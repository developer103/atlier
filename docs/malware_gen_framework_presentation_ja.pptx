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iryo"/>
              </a:defRPr>
            </a:pPr>
            <a:r>
              <a:t>マルウェア生成フレームワーク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D3"/>
                </a:solidFill>
                <a:latin typeface="Meiryo"/>
              </a:defRPr>
            </a:pPr>
            <a:r>
              <a:t>決定論的回避の大規模化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91840"/>
            <a:ext cx="2743200" cy="254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なぜLLM生成からピボットしたか、そしてフレームワークとClaude Codeの使い分け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Meiryo"/>
              </a:defRPr>
            </a:pPr>
            <a:r>
              <a:t>2026年7月  |  24スライド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Meiryo"/>
              </a:defRPr>
            </a:pPr>
            <a:r>
              <a:t>第1部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D3"/>
                </a:solidFill>
                <a:latin typeface="Meiryo"/>
              </a:defRPr>
            </a:pPr>
            <a:r>
              <a:t>なぜピボットしたのか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LLM駆動コード生成から決定論的チャンク組立への転換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解決すべき課題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eiryo"/>
              </a:defRPr>
            </a:pPr>
            <a:r>
              <a:t>エンタープライズEDR（CrowdStrike Falcon）は6つの独立した層でマルウェアを検知する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22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1: 静的ML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22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PE構造、インポート、エントロピー、Richヘッダ、リソースの分析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71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2: ユーザーランドフック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719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ntdllインラインフック、SSNスクランブリングによるAPI監視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45536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217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3: カーネルコールバック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21736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csagent.sys経由のプロセス/スレッド/イメージ通知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95344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15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4: 行動IOA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971544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APIコールシーケンス、プロセスツリー、メモリ操作の監視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45152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213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5: クラウドML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213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ファイルレピュテーション、脅威インテリジェンス、行動モデル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59"/>
            <a:ext cx="10515600" cy="621792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711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Layer 6: メモリスキャン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47115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Intel TDT AMS、周期的PE/インジェクションスキャン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A502"/>
                </a:solidFill>
                <a:latin typeface="Meiryo"/>
              </a:defRPr>
            </a:pPr>
            <a:r>
              <a:t>従来のツール（Cobalt Strike、Sliver、手書き）はすべてシグネチャ化済み → 新しいアプローチが必要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v1のアプローチ：LLM駆動コード生成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Meiryo"/>
              </a:defRPr>
            </a:pPr>
            <a:r>
              <a:t>アイデア：LLMにマルウェアのCコード全体を書かせる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プロンプト設計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824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LLMがC生成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848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コンパイル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872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VMデプロイ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896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検知テスト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3774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286000"/>
            <a:ext cx="1737360" cy="7315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920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失敗→再生成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LLMが戦略の決定と実装の両方を担当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eiryo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LLMがどの回避技術を適用するか決定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LLMが回避技術のCコードを生成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LLMが依存関係（ヘッダ、型、API）を管理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コンパイル失敗時はLLMが修正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CCCCC"/>
                </a:solidFill>
                <a:latin typeface="Meiryo"/>
              </a:defRPr>
            </a:pPr>
            <a:r>
              <a:t>• 検知された場合はLLMが別の回避手法で再生成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FFA502"/>
                </a:solidFill>
                <a:latin typeface="Meiryo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FFA502"/>
                </a:solidFill>
                <a:latin typeface="Meiryo"/>
              </a:defRPr>
            </a:pPr>
            <a:r>
              <a:t>理論上は完璧 — LLMの適応力で無限の回避バリアントを生成できるはず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161"/>
                </a:solidFill>
                <a:latin typeface="Meiryo"/>
              </a:defRPr>
            </a:pPr>
            <a:r>
              <a:t>v1の失敗：非決定性と信頼性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563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非決定的出力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611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同じプロンプト → 毎回異なるコード。昨日動いたバイナリを再現できない。</a:t>
            </a:r>
            <a:br/>
            <a:r>
              <a:t>「なぜ動いたか」の分析が不可能。成功条件を体系的に学習できない。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51560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365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コンパイル成功率 約60%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413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MinGWの制約を頻繁に無視：memmem（GNU拡張）、#pragma comment（MSVC専用）、</a:t>
            </a:r>
            <a:br/>
            <a:r>
              <a:t>winsock2.hとwindows.hの順序違反。修正サイクルが毎回発生。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51560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9166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回避のハルシネーション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214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「間接システムコールを実装しました」→ 実際にはGetProcAddressで通常のAPI呼び出し。</a:t>
            </a:r>
            <a:br/>
            <a:r>
              <a:t>LLMは自分のコードが本当に回避になっているか検証できない。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39"/>
            <a:ext cx="1051560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968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テスト不可能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501639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どの技術が有効でどれが無効か特定できない。バイナリ全体が毎回異なるため、</a:t>
            </a:r>
            <a:br/>
            <a:r>
              <a:t>変数の分離が不可能。「回避チャンクAは有効だがBは検知される」という知見が得られない。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161"/>
                </a:solidFill>
                <a:latin typeface="Meiryo"/>
              </a:defRPr>
            </a:pPr>
            <a:r>
              <a:t>v1の本当のコスト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LLMに全てを任せた結果、時間の大半がデバッグに消えた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751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1回の生成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0751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30〜60秒（LLM推論時間）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152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コンパイル修正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7152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平均2.5回のリトライ（ヘッダ不足、型の不一致）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553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回避検証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3553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手動で毎回VMにデプロイして確認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19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954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成功→失敗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99541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前回動いたバイナリの再現不可能（非決定性）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355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知識の蓄積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6355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ゼロ — 会話終了で学習内容が消滅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755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"/>
              </a:defRPr>
            </a:pPr>
            <a:r>
              <a:t>100バリアント生成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2755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6161"/>
                </a:solidFill>
                <a:latin typeface="Meiryo"/>
              </a:defRPr>
            </a:pPr>
            <a:r>
              <a:t>50〜100分（直列処理、失敗リトライ含む）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2"/>
                </a:solidFill>
                <a:latin typeface="Meiryo"/>
              </a:defRPr>
            </a:pPr>
            <a:r>
              <a:t>→ 問題の根本：LLMは「戦略を考える」ことは得意だが「同じコードを正確に再現する」ことは苦手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D3"/>
                </a:solidFill>
                <a:latin typeface="Meiryo"/>
              </a:defRPr>
            </a:pPr>
            <a:r>
              <a:t>核心的発見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eiryo"/>
              </a:defRPr>
            </a:pPr>
            <a:r>
              <a:t>「何をするか」（WHAT）と「どう実装するか」（HOW）を分離する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651760"/>
            <a:ext cx="2743200" cy="254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5029200" cy="292608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Meiryo"/>
              </a:defRPr>
            </a:pPr>
            <a:r>
              <a:t>WHAT — LLMの役割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「このEDRにはどの回避技術が有効か？」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「PE vs JScript vs DLL どれが通りやすいか？」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「検知されたらどのチャンクを入れ替えるか？」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86FC"/>
                </a:solidFill>
                <a:latin typeface="Meiry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86FC"/>
                </a:solidFill>
                <a:latin typeface="Meiryo"/>
              </a:defRPr>
            </a:pPr>
            <a:r>
              <a:t>→ 戦略の決定に集中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86FC"/>
                </a:solidFill>
                <a:latin typeface="Meiryo"/>
              </a:defRPr>
            </a:pPr>
            <a:r>
              <a:t>→ 非決定性は問題にならない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760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（戦略は正しければ良い、コードの一致は不要）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08960"/>
            <a:ext cx="5029200" cy="2926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D3"/>
                </a:solidFill>
                <a:latin typeface="Meiryo"/>
              </a:defRPr>
            </a:pPr>
            <a:r>
              <a:t>HOW — チャンクの役割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事前テスト済みのCコードフラグメント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160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各チャンクは独立してコンパイル・検証済み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YAMLレシピが組合せを宣言的に定義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800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766560" y="5120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D3"/>
                </a:solidFill>
                <a:latin typeface="Meiryo"/>
              </a:defRPr>
            </a:pPr>
            <a:r>
              <a:t>→ 実装の品質を保証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D3"/>
                </a:solidFill>
                <a:latin typeface="Meiryo"/>
              </a:defRPr>
            </a:pPr>
            <a:r>
              <a:t>→ 100%決定論的（同じレシピ→同じバイナリ）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760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D3"/>
                </a:solidFill>
                <a:latin typeface="Meiryo"/>
              </a:defRPr>
            </a:pPr>
            <a:r>
              <a:t>→ コンパイル成功率99%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D3"/>
                </a:solidFill>
                <a:latin typeface="Meiryo"/>
              </a:defRPr>
            </a:pPr>
            <a:r>
              <a:t>v2：決定論的チャンク組立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65176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2"/>
                </a:solidFill>
                <a:latin typeface="Meiryo"/>
              </a:defRPr>
            </a:pPr>
            <a:r>
              <a:t>YAMLレシピ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176レシピ</a:t>
            </a:r>
            <a:br/>
            <a:r>
              <a:t>宣言的定義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65176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48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D3"/>
                </a:solidFill>
                <a:latin typeface="Meiryo"/>
              </a:defRPr>
            </a:pPr>
            <a:r>
              <a:t>チャンクアセンブラ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488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依存解決</a:t>
            </a:r>
            <a:br/>
            <a:r>
              <a:t>変数置換</a:t>
            </a:r>
            <a:br/>
            <a:r>
              <a:t>リソース注入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65176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096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  <a:latin typeface="Meiryo"/>
              </a:defRPr>
            </a:pPr>
            <a:r>
              <a:t>難読化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96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light/heavy/max</a:t>
            </a:r>
            <a:br/>
            <a:r>
              <a:t>自動フォールバック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371600"/>
            <a:ext cx="2651760" cy="1645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70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eiryo"/>
              </a:defRPr>
            </a:pPr>
            <a:r>
              <a:t>コンパイル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704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MinGW/Zig</a:t>
            </a:r>
            <a:br/>
            <a:r>
              <a:t>PE/DLL/CPL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チャンクシステムの詳細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91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335チャンク × 16カテゴリ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891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api_resolve, arch, collectors, commands, core, c2, evasion, exfil, persist, process...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31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51バリアントグループ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31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syscall_gate(10), sleep_obfusc(8), stack_spoof(7), api_resolve(7), anti_sandbox(7)...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20640"/>
            <a:ext cx="10515600" cy="5029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71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--randomize フラグ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7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各グループからランダムに1つ選択 → 毎回構造的に異なるバイナリ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760719"/>
            <a:ext cx="10515600" cy="5029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11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7.7×10²⁶ の組合せ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81151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全バリアントグループの直積 → シグネチャ化が物理的に不可能な規模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ピボットの数値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73200"/>
            <a:ext cx="1828800" cy="6400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9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161"/>
                </a:solidFill>
                <a:latin typeface="Meiryo"/>
              </a:defRPr>
            </a:pPr>
            <a: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24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73200"/>
            <a:ext cx="1828800" cy="640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498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eiryo"/>
              </a:defRPr>
            </a:pPr>
            <a:r>
              <a:t>99%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7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コンパイル成功率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778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eiryo"/>
              </a:defRPr>
            </a:pPr>
            <a:r>
              <a:t>型の不一致、ヘッダ不足が消滅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753360"/>
            <a:ext cx="1828800" cy="6400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7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161"/>
                </a:solidFill>
                <a:latin typeface="Meiryo"/>
              </a:defRPr>
            </a:pPr>
            <a:r>
              <a:t>30-60s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04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753360"/>
            <a:ext cx="1828800" cy="640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778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eiryo"/>
              </a:defRPr>
            </a:pPr>
            <a:r>
              <a:t>&lt;5s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5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ビルド時間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058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eiryo"/>
              </a:defRPr>
            </a:pPr>
            <a:r>
              <a:t>LLM推論不要、テンプレート変数置換のみ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033520"/>
            <a:ext cx="1828800" cy="6400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161"/>
                </a:solidFill>
                <a:latin typeface="Meiryo"/>
              </a:defRPr>
            </a:pPr>
            <a: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084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033520"/>
            <a:ext cx="1828800" cy="640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405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eiryo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03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再現性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338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eiryo"/>
              </a:defRPr>
            </a:pPr>
            <a:r>
              <a:t>同じレシピ → 同じバイナリ（決定論的）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5313679"/>
            <a:ext cx="1828800" cy="6400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39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161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3644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313679"/>
            <a:ext cx="1828800" cy="6400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533907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eiryo"/>
              </a:defRPr>
            </a:pPr>
            <a:r>
              <a:t>7.7×10²⁶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313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バリアント多様性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6184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eiryo"/>
              </a:defRPr>
            </a:pPr>
            <a:r>
              <a:t>--randomize で自動的に構造変更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76"/>
                </a:solidFill>
                <a:latin typeface="Meiryo"/>
              </a:defRPr>
            </a:pPr>
            <a:r>
              <a:t>ピボットで得たもの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" cy="109728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56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Meiryo"/>
              </a:defRPr>
            </a:pPr>
            <a:r>
              <a:t>テスト可能性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61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各チャンクを独立してテスト可能。「sleep_ekkoは有効だがsleep_foliageは検知される」</a:t>
            </a:r>
            <a:br/>
            <a:r>
              <a:t>という粒度の知見が得られる。CrowdStrikeの検知メカニズムの体系的な理解。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37160" cy="109728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36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D3"/>
                </a:solidFill>
                <a:latin typeface="Meiryo"/>
              </a:defRPr>
            </a:pPr>
            <a:r>
              <a:t>知識の永続化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41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テスト結果がrecipe_results.jsonとknowledge.mdに蓄積。</a:t>
            </a:r>
            <a:br/>
            <a:r>
              <a:t>「何が動くか」の知識が会話をまたいで保持される。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37160" cy="109728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916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  <a:latin typeface="Meiryo"/>
              </a:defRPr>
            </a:pPr>
            <a:r>
              <a:t>組合せ的ポリモーフィズム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22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難読化（同じコードを違って見せる）ではなく、実際に異なるコードパス。</a:t>
            </a:r>
            <a:br/>
            <a:r>
              <a:t>10シスコール × 8スリープ × 7スタックスプーフ = 物理的に異なる実行。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39"/>
            <a:ext cx="105156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120639"/>
            <a:ext cx="137160" cy="1097280"/>
          </a:xfrm>
          <a:prstGeom prst="roundRect">
            <a:avLst/>
          </a:prstGeom>
          <a:solidFill>
            <a:srgbClr val="64B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968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4B5F6"/>
                </a:solidFill>
                <a:latin typeface="Meiryo"/>
              </a:defRPr>
            </a:pPr>
            <a:r>
              <a:t>自律運用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0163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Hermesオーケストレータが全パイプラインを自動実行。</a:t>
            </a:r>
            <a:br/>
            <a:r>
              <a:t>スキャン→戦略→組立→デプロイ→分析→変異→再試行を人間不在で。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502"/>
                </a:solidFill>
                <a:latin typeface="Meiryo"/>
              </a:defRPr>
            </a:pPr>
            <a:r>
              <a:t>ピボットで失ったもの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eiryo"/>
              </a:defRPr>
            </a:pPr>
            <a:r>
              <a:t>フレームワークは強力だが、万能ではない — ここにClaude Codeの出番がある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123444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22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イノベーション能力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23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既存チャンクの組合せのみ。新しいカテゴリの回避技術は自動では生まれない。</a:t>
            </a:r>
            <a:br/>
            <a:r>
              <a:t>CrowdStrikeが全カテゴリを学習すると、組合せ空間内で回避不能になる可能性。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515600" cy="123444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851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161"/>
                </a:solidFill>
                <a:latin typeface="Meiryo"/>
              </a:defRPr>
            </a:pPr>
            <a:r>
              <a:t>✗ 適応的推論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153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Hermesの戦略ツリーは固定ロジック。想定外の検知パターンには対応できない。</a:t>
            </a:r>
            <a:br/>
            <a:r>
              <a:t>「この検知は○○の組合せだから△△で対処」という動的推論ができない。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515600" cy="1234440"/>
          </a:xfrm>
          <a:prstGeom prst="roundRect">
            <a:avLst/>
          </a:prstGeom>
          <a:solidFill>
            <a:srgbClr val="442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6482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A502"/>
                </a:solidFill>
                <a:latin typeface="Meiryo"/>
              </a:defRPr>
            </a:pPr>
            <a:r>
              <a:t>✗ 柔軟なコード変更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784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チャンクの入替はできるが、チャンク内部のロジック変更はできない。</a:t>
            </a:r>
            <a:br/>
            <a:r>
              <a:t>「この関数の呼び出し順序を変えれば検知を回避できる」という微調整が不可能。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eiryo"/>
              </a:defRPr>
            </a:pPr>
            <a:r>
              <a:t>→ これらの弱点を補完するのがClaude Code — 第2部へ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Meiryo"/>
              </a:defRPr>
            </a:pPr>
            <a:r>
              <a:t>第2部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BB86FC"/>
                </a:solidFill>
                <a:latin typeface="Meiryo"/>
              </a:defRPr>
            </a:pPr>
            <a:r>
              <a:t>フレームワーク vs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eiryo"/>
              </a:defRPr>
            </a:pPr>
            <a:r>
              <a:t>既知の技術の展開 vs 未知の技術の発見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BB86FC"/>
                </a:solidFill>
                <a:latin typeface="Meiryo"/>
              </a:defRPr>
            </a:pPr>
            <a:r>
              <a:t>発見：Claude Code（Opus 4.6）はマルウェアを書ける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eiryo"/>
              </a:defRPr>
            </a:pPr>
            <a:r>
              <a:t>チャンクアセンブラの開発中に偶然発見：フロンティアLLMは有能なマルウェア開発者である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751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110の回避チャンクをCで作成 — 間接システムコール、スリープ難読化、スタックスプーフィング、ETWバイパス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067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チャンクアセンブラパイプライン全体を設計・構築 — 依存解決、テンプレート変数、リソース注入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382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バリアントシステムを設計 — 51グループ、199バリアント、variants.yaml仕様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697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CrowdStrike検知ログを読み → 失敗原因を分析 → 対策を反復実装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515600" cy="5943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012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✓ 結果：207,827バイト窃取、CrowdStrike + Defender両方で検知ゼロ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2"/>
                </a:solidFill>
                <a:latin typeface="Meiryo"/>
              </a:defRPr>
            </a:pPr>
            <a:r>
              <a:t>重要な含意：EDR回避の参入障壁がAIにより大幅に低下した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2D3"/>
                </a:solidFill>
                <a:latin typeface="Meiryo"/>
              </a:defRPr>
            </a:pPr>
            <a:r>
              <a:t>フレームワークが勝つ場面：既知の技術の大規模展開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522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7.7×10²⁶の組合せ空間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268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1つのレシピから天文学的な数のユニークバイナリ。</a:t>
            </a:r>
            <a:br/>
            <a:r>
              <a:t>CrowdStrikeがシグネチャをどれだけ追加しても追いつけない。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037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5秒未満のビルド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783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レッドチーム演習中のリアルタイム適応。</a:t>
            </a:r>
            <a:br/>
            <a:r>
              <a:t>検知されたら即座に別バリアントを生成して再展開。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553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99%のコンパイル成功率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2994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事前テスト済みチャンクなので「動くはず」ではなく「動く」。</a:t>
            </a:r>
            <a:br/>
            <a:r>
              <a:t>デバッグ時間ゼロ。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399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068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Hermes自律キャンペーン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381499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人間不在で scan→build→deploy→detect→mutate→retry を</a:t>
            </a:r>
            <a:br/>
            <a:r>
              <a:t>成功するまで自動ループ。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515600" cy="9144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584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知識の永続化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4330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recipe_results.json + knowledge.mdに蓄積。</a:t>
            </a:r>
            <a:br/>
            <a:r>
              <a:t>「何がCrowdStrikeを通るか」の体系的知識。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BB86FC"/>
                </a:solidFill>
                <a:latin typeface="Meiryo"/>
              </a:defRPr>
            </a:pPr>
            <a:r>
              <a:t>Claude Codeが勝つ場面：未知の技術の発見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522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新技術の発明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268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CrowdStrikeの検知ログから「なぜ検知されたか」を推論し、</a:t>
            </a:r>
            <a:br/>
            <a:r>
              <a:t>まったく新しい回避手法を考案。フレームワークのチャンクの多くはClaude Code発祥。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037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適応的問題解決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783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200Kトークンのコンテキストで検知パターンを多角的に分析。</a:t>
            </a:r>
            <a:br/>
            <a:r>
              <a:t>「プロセスツリーIOA」→「PPIDスプーフ+スタックスプーフの組合せ」と段階的推論。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553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未知の検知の突破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32994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CrowdStrikeが新しいIOAルールを追加した場合、</a:t>
            </a:r>
            <a:br/>
            <a:r>
              <a:t>固定チャンクでは対応不能だがClaude Codeは原理から対策を導出できる。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399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068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E2E開発サイクル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381499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コード→コンパイル→デプロイ→検知ログ分析→修正を</a:t>
            </a:r>
            <a:br/>
            <a:r>
              <a:t>1つの会話で完結。VM操作、SSH、PowerShell統合。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515600" cy="91440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584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ゼロセットアップ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4330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「CrowdStrikeを突破するキーロガーを作れ」の一言で開始。</a:t>
            </a:r>
            <a:br/>
            <a:r>
              <a:t>チャンクの知識不要、レシピ構文不要。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直接比較：全指標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743200" cy="411480"/>
          </a:xfrm>
          <a:prstGeom prst="roundRect">
            <a:avLst/>
          </a:prstGeom>
          <a:solidFill>
            <a:srgbClr val="3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66160" y="1188720"/>
            <a:ext cx="3840480" cy="41148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79" y="1188720"/>
            <a:ext cx="3840480" cy="411480"/>
          </a:xfrm>
          <a:prstGeom prst="roundRect">
            <a:avLst/>
          </a:prstGeom>
          <a:solidFill>
            <a:srgbClr val="2D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9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Meiryo"/>
              </a:defRPr>
            </a:pPr>
            <a:r>
              <a:t>指標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39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フレームワーク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39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Meiryo"/>
              </a:defRPr>
            </a:pPr>
            <a:r>
              <a:t>Claude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42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再現性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42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42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94560"/>
            <a:ext cx="10607040" cy="41148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5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ビルド速度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45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&lt;5秒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45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30〜60秒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9748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748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コンパイル成功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48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99%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48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60%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00400"/>
            <a:ext cx="10607040" cy="41148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251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バリアント数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251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7.7×10²⁶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251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1つずつ手動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0332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54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自律運用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754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Hermes完全自律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754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人間がループに常駐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06240"/>
            <a:ext cx="10607040" cy="41148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168140"/>
            <a:ext cx="10607040" cy="127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57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新技術の発明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257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不可能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257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得意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0916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759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適応的推論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759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固定ロジック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759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200Kコンテキスト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212080"/>
            <a:ext cx="10607040" cy="41148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262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検知分析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26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パターンマッチング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262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根本原因の理解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15000"/>
            <a:ext cx="10607040" cy="4114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765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eiryo"/>
              </a:defRPr>
            </a:pPr>
            <a:r>
              <a:t>柔軟性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76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161"/>
                </a:solidFill>
                <a:latin typeface="Meiryo"/>
              </a:defRPr>
            </a:pPr>
            <a:r>
              <a:t>チャンク入替のみ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5765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Meiryo"/>
              </a:defRPr>
            </a:pPr>
            <a:r>
              <a:t>任意のコード変更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eiryo"/>
              </a:defRPr>
            </a:pPr>
            <a:r>
              <a:t>上5行 = フレームワーク優位（本番）　下4行 = Claude Code優位（R&amp;D）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ケーススタディ：キーロガー回避技術の発見と永続化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640080" cy="109728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706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05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  <a:latin typeface="Meiryo"/>
              </a:defRPr>
            </a:pPr>
            <a:r>
              <a:t>Claude Code</a:t>
            </a:r>
            <a:br/>
            <a:r>
              <a:t>発見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055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SetWindowsHookExキーロガーがCrowdStrikeに即検知される問題を分析。</a:t>
            </a:r>
            <a:br/>
            <a:r>
              <a:t>GetAsyncKeyStateポーリング方式はフックを使わないため行動IOAを回避すると発見。</a:t>
            </a:r>
            <a:br/>
            <a:r>
              <a:t>さらにIATを3つのDLLに分散させると静的MLも回避できることを実証。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640080" cy="1097280"/>
          </a:xfrm>
          <a:prstGeom prst="round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965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31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93D"/>
                </a:solidFill>
                <a:latin typeface="Meiryo"/>
              </a:defRPr>
            </a:pPr>
            <a:r>
              <a:t>実機テスト</a:t>
            </a:r>
            <a:br/>
            <a:r>
              <a:t>検証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314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CrowdStrike Falcon + Windows Defender両方で検知ゼロを確認。</a:t>
            </a:r>
            <a:br/>
            <a:r>
              <a:t>追加発見：重い難読化は逆に検知率を悪化させる（エントロピー上昇が静的MLに引っかかる）。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640080" cy="109728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224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チャンク化</a:t>
            </a:r>
            <a:br/>
            <a:r>
              <a:t>永続化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95732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collectors/keylog_async.c + evasion/iat_spread_3dll.c としてライブラリに追加。</a:t>
            </a:r>
            <a:br/>
            <a:r>
              <a:t>variants.yamlに登録 → 全キーロガーレシピで自動的にランダム化対象に。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57799"/>
            <a:ext cx="640080" cy="109728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8299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2831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eiryo"/>
              </a:defRPr>
            </a:pPr>
            <a:r>
              <a:t>フレームワーク</a:t>
            </a:r>
            <a:br/>
            <a:r>
              <a:t>展開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283199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Hermesが新チャンクを組合せに取り込み、大規模バリアント生成が可能に。</a:t>
            </a:r>
            <a:br/>
            <a:r>
              <a:t>Claude Codeの1回の発見 → フレームワークの永続的な能力向上。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最適解：役割分担の原則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7315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R&amp;D・発見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新しい検知の分析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未知の回避技術の発明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失敗の根本原因特定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新チャンクのCコード作成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4200" y="4480560"/>
            <a:ext cx="3200400" cy="11887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「CrowdStrikeの新IOAを</a:t>
            </a:r>
            <a:br/>
            <a:r>
              <a:t>突破する方法を見つけろ」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566160" cy="73152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46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フレームワーク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46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本番・展開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818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大規模バリアント生成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818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自律キャンペーン実行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818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検証済み技術の展開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818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知識の永続化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4680" y="4480560"/>
            <a:ext cx="3200400" cy="11887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818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「proven レシピで</a:t>
            </a:r>
            <a:br/>
            <a:r>
              <a:t>50バリアント展開しろ」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280160"/>
            <a:ext cx="3566160" cy="48463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1280160"/>
            <a:ext cx="3566160" cy="73152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51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Hermes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516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eiryo"/>
              </a:defRPr>
            </a:pPr>
            <a:r>
              <a:t>オペレータ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8660" y="2377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ターゲットスキャン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8660" y="2880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戦略の自動選択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8660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検知時の自動変異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66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• ループの自動制御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5160" y="4480560"/>
            <a:ext cx="3200400" cy="1188720"/>
          </a:xfrm>
          <a:prstGeom prst="roundRect">
            <a:avLst/>
          </a:prstGeom>
          <a:solidFill>
            <a:srgbClr val="1E1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866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Meiryo"/>
              </a:defRPr>
            </a:pPr>
            <a:r>
              <a:t>「成功するまで</a:t>
            </a:r>
            <a:br/>
            <a:r>
              <a:t>自動でループしろ」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A502"/>
                </a:solidFill>
                <a:latin typeface="Meiryo"/>
              </a:defRPr>
            </a:pPr>
            <a:r>
              <a:t>Claude Codeが「突然変異」、フレームワークが「自然選択」、Hermesが「繁殖」を担当する進化モデル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eiryo"/>
              </a:defRPr>
            </a:pPr>
            <a:r>
              <a:t>フィードバックループ：発見→永続化→展開→適応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" cy="502920"/>
          </a:xfrm>
          <a:prstGeom prst="roundRect">
            <a:avLst/>
          </a:prstGeom>
          <a:solidFill>
            <a:srgbClr val="FF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9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39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161"/>
                </a:solidFill>
                <a:latin typeface="Meiryo"/>
              </a:defRPr>
            </a:pPr>
            <a:r>
              <a:t>CrowdStrikeが適応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9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新しいIOAルール追加、MLモデル再学習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50292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893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89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Claude Codeが分析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893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検知ログから原因を特定、対策を推論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88336"/>
            <a:ext cx="502920" cy="50292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3913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39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Meiryo"/>
              </a:defRPr>
            </a:pPr>
            <a:r>
              <a:t>新技術を発明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391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未知の回避手法をCで実装、実機テスト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38144"/>
            <a:ext cx="502920" cy="502920"/>
          </a:xfrm>
          <a:prstGeom prst="roundRect">
            <a:avLst/>
          </a:prstGeom>
          <a:solidFill>
            <a:srgbClr val="FFD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889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88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Meiryo"/>
              </a:defRPr>
            </a:pPr>
            <a:r>
              <a:t>検証（検知ゼロ）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889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CrowdStrike + Defender両方で確認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87952"/>
            <a:ext cx="502920" cy="50292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387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38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Meiryo"/>
              </a:defRPr>
            </a:pPr>
            <a:r>
              <a:t>チャンク化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387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.cファイル作成、variants.yaml登録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59"/>
            <a:ext cx="502920" cy="50292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85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88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eiryo"/>
              </a:defRPr>
            </a:pPr>
            <a:r>
              <a:t>フレームワーク展開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9885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Hermesが新チャンクを大規模バリアント生成に活用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87568"/>
            <a:ext cx="502920" cy="502920"/>
          </a:xfrm>
          <a:prstGeom prst="roundRect">
            <a:avLst/>
          </a:prstGeom>
          <a:solidFill>
            <a:srgbClr val="FF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383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738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161"/>
                </a:solidFill>
                <a:latin typeface="Meiryo"/>
              </a:defRPr>
            </a:pPr>
            <a:r>
              <a:t>CrowdStrikeが再適応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7383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→ ステップ1に戻る（進化的軍拡競争）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D3"/>
                </a:solidFill>
                <a:latin typeface="Meiryo"/>
              </a:defRPr>
            </a:pPr>
            <a:r>
              <a:t>結論：レシピは焼ける。組合せ空間は焼けない。組合せ空間の限界はClaude Codeが拡張する。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CrowdStrikeが両方を同時に無力化できない理由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92608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071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161"/>
                </a:solidFill>
                <a:latin typeface="Meiryo"/>
              </a:defRPr>
            </a:pPr>
            <a:r>
              <a:t>静的シグネチャ</a:t>
            </a:r>
            <a:br/>
            <a:r>
              <a:t>（数時間〜数日）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706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4572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071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1ハッシュを焼ける → --randomizeで</a:t>
            </a:r>
            <a:br/>
            <a:r>
              <a:t>毎回異なるバイナリ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280160"/>
            <a:ext cx="2286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457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フレームワーク</a:t>
            </a:r>
            <a:br/>
            <a:r>
              <a:t>が無力化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292608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87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161"/>
                </a:solidFill>
                <a:latin typeface="Meiryo"/>
              </a:defRPr>
            </a:pPr>
            <a:r>
              <a:t>MLモデル再学習</a:t>
            </a:r>
            <a:br/>
            <a:r>
              <a:t>（1〜3ヶ月）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5082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560320"/>
            <a:ext cx="4572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873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MinGW指紋を学習 → Zig/異なる</a:t>
            </a:r>
            <a:br/>
            <a:r>
              <a:t>コンパイラで指紋変更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560320"/>
            <a:ext cx="2286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738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フレームワーク</a:t>
            </a:r>
            <a:br/>
            <a:r>
              <a:t>が適応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292608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67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161"/>
                </a:solidFill>
                <a:latin typeface="Meiryo"/>
              </a:defRPr>
            </a:pPr>
            <a:r>
              <a:t>行動IOA更新</a:t>
            </a:r>
            <a:br/>
            <a:r>
              <a:t>（3〜6ヶ月）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3098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840480"/>
            <a:ext cx="4572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96748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APIパターン検知 → バリアント</a:t>
            </a:r>
            <a:br/>
            <a:r>
              <a:t>グループが実行アーキテクチャ入替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840480"/>
            <a:ext cx="2286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018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D3"/>
                </a:solidFill>
                <a:latin typeface="Meiryo"/>
              </a:defRPr>
            </a:pPr>
            <a:r>
              <a:t>フレームワーク</a:t>
            </a:r>
            <a:br/>
            <a:r>
              <a:t>が入替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39"/>
            <a:ext cx="2926080" cy="10972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4763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161"/>
                </a:solidFill>
                <a:latin typeface="Meiryo"/>
              </a:defRPr>
            </a:pPr>
            <a:r>
              <a:t>全カテゴリ学習</a:t>
            </a:r>
            <a:br/>
            <a:r>
              <a:t>（6ヶ月+）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311139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120639"/>
            <a:ext cx="4572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5247639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既存の全組合せを検知可能</a:t>
            </a:r>
            <a:br/>
            <a:r>
              <a:t>フレームワークの天井に到達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120639"/>
            <a:ext cx="2286000" cy="109728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529843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B86FC"/>
                </a:solidFill>
                <a:latin typeface="Meiryo"/>
              </a:defRPr>
            </a:pPr>
            <a:r>
              <a:t>Claude Code</a:t>
            </a:r>
            <a:br/>
            <a:r>
              <a:t>が新カテゴリ発明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76"/>
                </a:solidFill>
                <a:latin typeface="Meiryo"/>
              </a:defRPr>
            </a:pPr>
            <a:r>
              <a:t>実証結果 — CrowdStrike Falcon回避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777240"/>
          </a:xfrm>
          <a:prstGeom prst="round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436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Infostealer 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182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57KB、検知ゼロ、207,827バイト窃取、バイナリ残存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182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フレームワーク</a:t>
            </a:r>
            <a:br/>
            <a:r>
              <a:t>(Claude Code発見チャンク使用)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515600" cy="777240"/>
          </a:xfrm>
          <a:prstGeom prst="round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580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Backdoor 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326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277KB、TLV C2、ngrok経由、検知ゼロ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326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フレームワーク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515600" cy="777240"/>
          </a:xfrm>
          <a:prstGeom prst="round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724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Keylogger 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470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検知ゼロ、GetAsyncKeyState方式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470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Claude Code発見</a:t>
            </a:r>
            <a:br/>
            <a:r>
              <a:t>→ フレームワーク永続化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10515600" cy="777240"/>
          </a:xfrm>
          <a:prstGeom prst="round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868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JScriptバイパス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614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cscript.exe経由、静的検知回避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0614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フレームワーク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515600" cy="777240"/>
          </a:xfrm>
          <a:prstGeom prst="roundRect">
            <a:avLst/>
          </a:prstGeom>
          <a:solidFill>
            <a:srgbClr val="2E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012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Meiryo"/>
              </a:defRPr>
            </a:pPr>
            <a:r>
              <a:t>ランダム化バリアント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9758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約40%がCS静的検知を通過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758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フレームワーク</a:t>
            </a:r>
            <a:br/>
            <a:r>
              <a:t>(組合せ的ポリモーフィズム)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Meiryo"/>
              </a:defRPr>
            </a:pPr>
            <a:r>
              <a:t>全成果がフレームワーク + Claude Code の協業によるもの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フレームワークの規模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312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D3"/>
                </a:solidFill>
                <a:latin typeface="Meiryo"/>
              </a:defRPr>
            </a:pPr>
            <a:r>
              <a:t>176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31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レシピ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776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D3"/>
                </a:solidFill>
                <a:latin typeface="Meiryo"/>
              </a:defRPr>
            </a:pPr>
            <a:r>
              <a:t>335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77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チャンク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24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676"/>
                </a:solidFill>
                <a:latin typeface="Meiryo"/>
              </a:defRPr>
            </a:pPr>
            <a:r>
              <a:t>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24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回避チャンク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37160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704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A502"/>
                </a:solidFill>
                <a:latin typeface="Meiryo"/>
              </a:defRPr>
            </a:pPr>
            <a:r>
              <a:t>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0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バリアントグループ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12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A502"/>
                </a:solidFill>
                <a:latin typeface="Meiryo"/>
              </a:defRPr>
            </a:pPr>
            <a:r>
              <a:t>199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総バリアント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393192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776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BB86FC"/>
                </a:solidFill>
                <a:latin typeface="Meiryo"/>
              </a:defRPr>
            </a:pPr>
            <a:r>
              <a:t>7.7×10²⁶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776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組合せ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3192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240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4B5F6"/>
                </a:solidFill>
                <a:latin typeface="Meiryo"/>
              </a:defRPr>
            </a:pPr>
            <a: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24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Hermesツール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3931920"/>
            <a:ext cx="2560320" cy="210312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7040" y="42062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88899"/>
                </a:solidFill>
                <a:latin typeface="Meiryo"/>
              </a:defRPr>
            </a:pPr>
            <a:r>
              <a:t>67K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704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eiryo"/>
              </a:defRPr>
            </a:pPr>
            <a:r>
              <a:t>コード行数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主要な要点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37160" cy="640080"/>
          </a:xfrm>
          <a:prstGeom prst="roundRect">
            <a:avLst/>
          </a:prstGeom>
          <a:solidFill>
            <a:srgbClr val="FF6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268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161"/>
                </a:solidFill>
                <a:latin typeface="Meiryo"/>
              </a:defRPr>
            </a:pPr>
            <a:r>
              <a:t>LLM生成は本番に向かない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268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v1の失敗：非決定性、低コンパイル率、ハルシネーション → 決定論的組立にピボット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37160" cy="64008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955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Meiryo"/>
              </a:defRPr>
            </a:pPr>
            <a:r>
              <a:t>WHAT と HOW の分離が鍵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0955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LLMは戦略（WHAT）、チャンクは実装（HOW）。役割分離がv2成功の核心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37160" cy="640080"/>
          </a:xfrm>
          <a:prstGeom prst="roundRect">
            <a:avLst/>
          </a:prstGeom>
          <a:solidFill>
            <a:srgbClr val="00D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641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D3"/>
                </a:solidFill>
                <a:latin typeface="Meiryo"/>
              </a:defRPr>
            </a:pPr>
            <a:r>
              <a:t>既知の技術 → フレームワーク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9641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決定論的、高速、大規模、自律。本番デプロイメントに最適。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59"/>
            <a:ext cx="137160" cy="640080"/>
          </a:xfrm>
          <a:prstGeom prst="roundRect">
            <a:avLst/>
          </a:prstGeom>
          <a:solidFill>
            <a:srgbClr val="BB8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328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Meiryo"/>
              </a:defRPr>
            </a:pPr>
            <a:r>
              <a:t>未知の技術 → 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328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適応的、創造的、E2E。新しい検知の突破と新技術の発見に最適。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37160" cy="640080"/>
          </a:xfrm>
          <a:prstGeom prst="round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15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eiryo"/>
              </a:defRPr>
            </a:pPr>
            <a:r>
              <a:t>最強 = 両方の組合せ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7015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Claude Codeが発見→テスト→チャンク化→フレームワークが永続展開。進化的軍拡競争。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32120"/>
            <a:ext cx="137160" cy="640080"/>
          </a:xfrm>
          <a:prstGeom prst="roundRect">
            <a:avLst/>
          </a:prstGeom>
          <a:solidFill>
            <a:srgbClr val="FFA5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702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2"/>
                </a:solidFill>
                <a:latin typeface="Meiryo"/>
              </a:defRPr>
            </a:pPr>
            <a:r>
              <a:t>組合せ的ポリモーフィズム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5702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eiryo"/>
              </a:defRPr>
            </a:pPr>
            <a:r>
              <a:t>難読化ではなく実際に異なるコードパス。7.7×10²⁶はシグネチャ化不可能。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ご清聴ありがとうございました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926080"/>
            <a:ext cx="2743200" cy="25400"/>
          </a:xfrm>
          <a:prstGeom prst="rect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D3"/>
                </a:solidFill>
                <a:latin typeface="Meiryo"/>
              </a:defRPr>
            </a:pPr>
            <a:r>
              <a:t>既知の技術はフレームワークで。未知の技術はClaude Codeで。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Meiryo"/>
              </a:defRPr>
            </a:pPr>
            <a:r>
              <a:t>質疑応答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00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Meiryo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