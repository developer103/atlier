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377440"/>
            <a:ext cx="18288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Meiryo"/>
              </a:defRPr>
            </a:pPr>
            <a:r>
              <a:t>On-Demand Malware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0D4AA"/>
                </a:solidFill>
                <a:latin typeface="Meiryo"/>
              </a:defRPr>
            </a:pPr>
            <a:r>
              <a:t>Generation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AAAABB"/>
                </a:solidFill>
                <a:latin typeface="Meiryo"/>
              </a:defRPr>
            </a:pPr>
            <a:r>
              <a:t>LLMによるマルウェア開発ライフサイクルの完全自動化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AAAABB"/>
                </a:solidFill>
                <a:latin typeface="Meiryo"/>
              </a:defRPr>
            </a:pPr>
            <a:r>
              <a:t>2026.07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Meiryo"/>
              </a:defRPr>
            </a:pPr>
            <a:r>
              <a:t>テーマの目的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09728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Meiryo"/>
              </a:defRPr>
            </a:pPr>
            <a:r>
              <a:t>ターゲット環境に特化したカスタムマルウェアを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D4AA"/>
                </a:solidFill>
                <a:latin typeface="Meiryo"/>
              </a:defRPr>
            </a:pPr>
            <a:r>
              <a:t>オンデマンドで自動生成するパイプラインの構築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3291840" cy="3200400"/>
          </a:xfrm>
          <a:prstGeom prst="round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3291840" cy="508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6B6B"/>
                </a:solidFill>
                <a:latin typeface="Meiryo"/>
              </a:defRPr>
            </a:pPr>
            <a:r>
              <a:t>従来の課題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8"/>
                </a:solidFill>
                <a:latin typeface="Meiryo"/>
              </a:defRPr>
            </a:pPr>
            <a:r>
              <a:t>手動でのマルウェア開発に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8"/>
                </a:solidFill>
                <a:latin typeface="Meiryo"/>
              </a:defRPr>
            </a:pPr>
            <a:r>
              <a:t>数日〜数週間を要する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926080"/>
            <a:ext cx="3291840" cy="3200400"/>
          </a:xfrm>
          <a:prstGeom prst="round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926080"/>
            <a:ext cx="329184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2004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D4AA"/>
                </a:solidFill>
                <a:latin typeface="Meiryo"/>
              </a:defRPr>
            </a:pPr>
            <a:r>
              <a:t>解決アプローチ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84048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8"/>
                </a:solidFill>
                <a:latin typeface="Meiryo"/>
              </a:defRPr>
            </a:pPr>
            <a:r>
              <a:t>YAML仕様の入力だけで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8"/>
                </a:solidFill>
                <a:latin typeface="Meiryo"/>
              </a:defRPr>
            </a:pPr>
            <a:r>
              <a:t>LLMが自動でコード生成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926080"/>
            <a:ext cx="3291840" cy="3200400"/>
          </a:xfrm>
          <a:prstGeom prst="round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926080"/>
            <a:ext cx="3291840" cy="50800"/>
          </a:xfrm>
          <a:prstGeom prst="rect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2004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DCB6E"/>
                </a:solidFill>
                <a:latin typeface="Meiryo"/>
              </a:defRPr>
            </a:pPr>
            <a:r>
              <a:t>差別化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84048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8"/>
                </a:solidFill>
                <a:latin typeface="Meiryo"/>
              </a:defRPr>
            </a:pPr>
            <a:r>
              <a:t>毎回ユニークなバイナリ生成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8"/>
                </a:solidFill>
                <a:latin typeface="Meiryo"/>
              </a:defRPr>
            </a:pPr>
            <a:r>
              <a:t>= シグネチャ検知を根本回避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Meiryo"/>
              </a:defRPr>
            </a:pPr>
            <a:r>
              <a:t>最終目標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645920"/>
            <a:ext cx="8229600" cy="109728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17373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D4AA"/>
                </a:solidFill>
                <a:latin typeface="Meiryo"/>
              </a:defRPr>
            </a:pPr>
            <a:r>
              <a:t>「欲しいマルウェアを、欲しいときに、欲しい形で」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200400"/>
            <a:ext cx="1645920" cy="118872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3291840"/>
            <a:ext cx="1463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6C5CE7"/>
                </a:solidFill>
                <a:latin typeface="Meiryo"/>
              </a:defRPr>
            </a:pPr>
            <a:r>
              <a:t>spec.yaml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6C5CE7"/>
                </a:solidFill>
                <a:latin typeface="Meiryo"/>
              </a:defRPr>
            </a:pPr>
            <a:r>
              <a:t>(5〜10行)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4747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AAAABB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3200400"/>
            <a:ext cx="1645920" cy="118872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3291840"/>
            <a:ext cx="1463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D4AA"/>
                </a:solidFill>
                <a:latin typeface="Meiryo"/>
              </a:defRPr>
            </a:pPr>
            <a:r>
              <a:t>Pipeline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D4AA"/>
                </a:solidFill>
                <a:latin typeface="Meiryo"/>
              </a:defRPr>
            </a:pPr>
            <a:r>
              <a:t>(自動処理)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34747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AAAABB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3200400"/>
            <a:ext cx="1645920" cy="118872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FDC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0" y="3291840"/>
            <a:ext cx="1463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DCB6E"/>
                </a:solidFill>
                <a:latin typeface="Meiryo"/>
              </a:defRPr>
            </a:pPr>
            <a:r>
              <a:t>EDR回避型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DCB6E"/>
                </a:solidFill>
                <a:latin typeface="Meiryo"/>
              </a:defRPr>
            </a:pPr>
            <a:r>
              <a:t>バイナリ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7548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D4AA"/>
                </a:solidFill>
                <a:latin typeface="Meiryo"/>
              </a:defRPr>
            </a:pPr>
            <a:r>
              <a:t>対応タイプ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47548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8"/>
                </a:solidFill>
                <a:latin typeface="Meiryo"/>
              </a:defRPr>
            </a:pPr>
            <a:r>
              <a:t>Ransomware / Infostealer / Keylogger / RAT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5166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D4AA"/>
                </a:solidFill>
                <a:latin typeface="Meiryo"/>
              </a:defRPr>
            </a:pPr>
            <a:r>
              <a:t>対応言語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51663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8"/>
                </a:solidFill>
                <a:latin typeface="Meiryo"/>
              </a:defRPr>
            </a:pPr>
            <a:r>
              <a:t>C / 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55778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D4AA"/>
                </a:solidFill>
                <a:latin typeface="Meiryo"/>
              </a:defRPr>
            </a:pPr>
            <a:r>
              <a:t>出力形式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55778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8"/>
                </a:solidFill>
                <a:latin typeface="Meiryo"/>
              </a:defRPr>
            </a:pPr>
            <a:r>
              <a:t>.exe / .dll / shellcode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989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D4AA"/>
                </a:solidFill>
                <a:latin typeface="Meiryo"/>
              </a:defRPr>
            </a:pPr>
            <a:r>
              <a:t>対応OS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5989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8"/>
                </a:solidFill>
                <a:latin typeface="Meiryo"/>
              </a:defRPr>
            </a:pPr>
            <a:r>
              <a:t>Windows 11（Linux拡張予定）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Meiryo"/>
              </a:defRPr>
            </a:pPr>
            <a:r>
              <a:t>パイプライン全体像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1097280" cy="146304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50876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C5CE7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828800"/>
            <a:ext cx="1005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8"/>
                </a:solidFill>
                <a:latin typeface="Meiryo"/>
              </a:defRPr>
            </a:pPr>
            <a:r>
              <a:t>Spec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8"/>
                </a:solidFill>
                <a:latin typeface="Meiryo"/>
              </a:defRPr>
            </a:pPr>
            <a:r>
              <a:t>解析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92024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AAAABB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19" y="1463040"/>
            <a:ext cx="1097280" cy="146304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39" y="150876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C5CE7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39" y="1828800"/>
            <a:ext cx="1005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8"/>
                </a:solidFill>
                <a:latin typeface="Meiryo"/>
              </a:defRPr>
            </a:pPr>
            <a:r>
              <a:t>LLM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8"/>
                </a:solidFill>
                <a:latin typeface="Meiryo"/>
              </a:defRPr>
            </a:pPr>
            <a:r>
              <a:t>計画生成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79" y="192024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AAAABB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79" y="1463040"/>
            <a:ext cx="1097280" cy="146304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799" y="150876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C5CE7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799" y="1828800"/>
            <a:ext cx="1005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8"/>
                </a:solidFill>
                <a:latin typeface="Meiryo"/>
              </a:defRPr>
            </a:pPr>
            <a:r>
              <a:t>チャンク別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8"/>
                </a:solidFill>
                <a:latin typeface="Meiryo"/>
              </a:defRPr>
            </a:pPr>
            <a:r>
              <a:t>コード生成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192024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AAAABB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1463040"/>
            <a:ext cx="1097280" cy="146304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60" y="150876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AA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1828800"/>
            <a:ext cx="1005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8"/>
                </a:solidFill>
                <a:latin typeface="Meiryo"/>
              </a:defRPr>
            </a:pPr>
            <a:r>
              <a:t>自動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8"/>
                </a:solidFill>
                <a:latin typeface="Meiryo"/>
              </a:defRPr>
            </a:pPr>
            <a:r>
              <a:t>コンパイル修正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192024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AAAABB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1463040"/>
            <a:ext cx="1097280" cy="146304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32120" y="150876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AA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1828800"/>
            <a:ext cx="1005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8"/>
                </a:solidFill>
                <a:latin typeface="Meiryo"/>
              </a:defRPr>
            </a:pPr>
            <a:r>
              <a:t>回避パス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8"/>
                </a:solidFill>
                <a:latin typeface="Meiryo"/>
              </a:defRPr>
            </a:pPr>
            <a:r>
              <a:t>適用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192024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AAAABB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1463040"/>
            <a:ext cx="1097280" cy="146304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FDC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150876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DCB6E"/>
                </a:solidFill>
                <a:latin typeface="Meiryo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1828800"/>
            <a:ext cx="1005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8"/>
                </a:solidFill>
                <a:latin typeface="Meiryo"/>
              </a:defRPr>
            </a:pPr>
            <a:r>
              <a:t>VM自動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8"/>
                </a:solidFill>
                <a:latin typeface="Meiryo"/>
              </a:defRPr>
            </a:pPr>
            <a:r>
              <a:t>デプロイ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192024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AAAABB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1463040"/>
            <a:ext cx="1097280" cy="146304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FDC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92439" y="150876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DCB6E"/>
                </a:solidFill>
                <a:latin typeface="Meiryo"/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39" y="1828800"/>
            <a:ext cx="1005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8"/>
                </a:solidFill>
                <a:latin typeface="Meiryo"/>
              </a:defRPr>
            </a:pPr>
            <a:r>
              <a:t>機能検証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79" y="192024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AAAABB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0" y="1463040"/>
            <a:ext cx="1097280" cy="146304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72600" y="150876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6B6B"/>
                </a:solidFill>
                <a:latin typeface="Meiryo"/>
              </a:defRPr>
            </a:pPr>
            <a: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1828800"/>
            <a:ext cx="1005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8"/>
                </a:solidFill>
                <a:latin typeface="Meiryo"/>
              </a:defRPr>
            </a:pPr>
            <a:r>
              <a:t>EDR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8"/>
                </a:solidFill>
                <a:latin typeface="Meiryo"/>
              </a:defRPr>
            </a:pPr>
            <a:r>
              <a:t>検知テスト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78440" y="192024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AAAABB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607040" y="1463040"/>
            <a:ext cx="1097280" cy="146304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52760" y="150876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6B6B"/>
                </a:solidFill>
                <a:latin typeface="Meiryo"/>
              </a:defRPr>
            </a:pPr>
            <a: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52760" y="1828800"/>
            <a:ext cx="1005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8"/>
                </a:solidFill>
                <a:latin typeface="Meiryo"/>
              </a:defRPr>
            </a:pPr>
            <a:r>
              <a:t>成功 or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8"/>
                </a:solidFill>
                <a:latin typeface="Meiryo"/>
              </a:defRPr>
            </a:pPr>
            <a:r>
              <a:t>再試行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340868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AA"/>
                </a:solidFill>
                <a:latin typeface="Meiryo"/>
              </a:defRPr>
            </a:pPr>
            <a:r>
              <a:t>コード生成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340868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8"/>
                </a:solidFill>
                <a:latin typeface="Meiryo"/>
              </a:defRPr>
            </a:pPr>
            <a:r>
              <a:t>ローカルLLM（Qwen3-35B / Blackwell GPU）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3886200"/>
            <a:ext cx="10698480" cy="4572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39116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AA"/>
                </a:solidFill>
                <a:latin typeface="Meiryo"/>
              </a:defRPr>
            </a:pPr>
            <a:r>
              <a:t>コンパイル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26080" y="391160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8"/>
                </a:solidFill>
                <a:latin typeface="Meiryo"/>
              </a:defRPr>
            </a:pPr>
            <a:r>
              <a:t>MinGW クロスコンパイル (x86_64-w64-mingw32-gcc)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441452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AA"/>
                </a:solidFill>
                <a:latin typeface="Meiryo"/>
              </a:defRPr>
            </a:pPr>
            <a:r>
              <a:t>回避技術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80" y="441452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8"/>
                </a:solidFill>
                <a:latin typeface="Meiryo"/>
              </a:defRPr>
            </a:pPr>
            <a:r>
              <a:t>文字列暗号化 / API動的解決 / AMSI・ETW bypass / SEH / アンチデバッグ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4892040"/>
            <a:ext cx="10698480" cy="4572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491744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AA"/>
                </a:solidFill>
                <a:latin typeface="Meiryo"/>
              </a:defRPr>
            </a:pPr>
            <a:r>
              <a:t>VM環境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26080" y="49174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8"/>
                </a:solidFill>
                <a:latin typeface="Meiryo"/>
              </a:defRPr>
            </a:pPr>
            <a:r>
              <a:t>QEMU/OVMF + Windows 11 自動プロビジョニング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5394960"/>
            <a:ext cx="10698480" cy="45720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542036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AA"/>
                </a:solidFill>
                <a:latin typeface="Meiryo"/>
              </a:defRPr>
            </a:pPr>
            <a:r>
              <a:t>機能検証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26080" y="542036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8"/>
                </a:solidFill>
                <a:latin typeface="Meiryo"/>
              </a:defRPr>
            </a:pPr>
            <a:r>
              <a:t>キャナリーファイルベース検証（偽陽性ゼロ）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5897880"/>
            <a:ext cx="10698480" cy="4572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" y="592328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AA"/>
                </a:solidFill>
                <a:latin typeface="Meiryo"/>
              </a:defRPr>
            </a:pPr>
            <a:r>
              <a:t>EDR対応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26080" y="592328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8"/>
                </a:solidFill>
                <a:latin typeface="Meiryo"/>
              </a:defRPr>
            </a:pPr>
            <a:r>
              <a:t>Windows Defender / Wazuh / OpenEDR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Meiryo"/>
              </a:defRPr>
            </a:pPr>
            <a:r>
              <a:t>期待する結果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2194560"/>
          </a:xfrm>
          <a:prstGeom prst="round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63500" cy="21945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D4AA"/>
                </a:solidFill>
                <a:latin typeface="Meiryo"/>
              </a:defRPr>
            </a:pPr>
            <a:r>
              <a:t>エンドツーエンド完結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45720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E0E0E8"/>
                </a:solidFill>
                <a:latin typeface="Meiryo"/>
              </a:defRPr>
            </a:pPr>
            <a:r>
              <a:t>spec.yaml入力のみで完結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E0E0E8"/>
                </a:solidFill>
                <a:latin typeface="Meiryo"/>
              </a:defRPr>
            </a:pPr>
            <a:r>
              <a:t>人間のコーディング・デバッグ介入ゼロ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303520" cy="2194560"/>
          </a:xfrm>
          <a:prstGeom prst="round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463040"/>
            <a:ext cx="63500" cy="21945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645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6C5CE7"/>
                </a:solidFill>
                <a:latin typeface="Meiryo"/>
              </a:defRPr>
            </a:pPr>
            <a:r>
              <a:t>生成コードの品質保証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286000"/>
            <a:ext cx="45720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E0E0E8"/>
                </a:solidFill>
                <a:latin typeface="Meiryo"/>
              </a:defRPr>
            </a:pPr>
            <a:r>
              <a:t>コンパイルエラー自動修復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E0E0E8"/>
                </a:solidFill>
                <a:latin typeface="Meiryo"/>
              </a:defRPr>
            </a:pPr>
            <a:r>
              <a:t>キャナリーベースの機能検証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5303520" cy="2194560"/>
          </a:xfrm>
          <a:prstGeom prst="round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023360"/>
            <a:ext cx="63500" cy="2194560"/>
          </a:xfrm>
          <a:prstGeom prst="rect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2062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DCB6E"/>
                </a:solidFill>
                <a:latin typeface="Meiryo"/>
              </a:defRPr>
            </a:pPr>
            <a:r>
              <a:t>EDR回避率の向上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846320"/>
            <a:ext cx="45720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E0E0E8"/>
                </a:solidFill>
                <a:latin typeface="Meiryo"/>
              </a:defRPr>
            </a:pPr>
            <a:r>
              <a:t>毎回異なるバイナリ生成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E0E0E8"/>
                </a:solidFill>
                <a:latin typeface="Meiryo"/>
              </a:defRPr>
            </a:pPr>
            <a:r>
              <a:t>多層回避パス自動適用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023360"/>
            <a:ext cx="5303520" cy="2194560"/>
          </a:xfrm>
          <a:prstGeom prst="round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4023360"/>
            <a:ext cx="63500" cy="21945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42062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6B6B"/>
                </a:solidFill>
                <a:latin typeface="Meiryo"/>
              </a:defRPr>
            </a:pPr>
            <a:r>
              <a:t>反復改善ループ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846320"/>
            <a:ext cx="45720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E0E0E8"/>
                </a:solidFill>
                <a:latin typeface="Meiryo"/>
              </a:defRPr>
            </a:pPr>
            <a:r>
              <a:t>検知時に回避手法を自動変更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E0E0E8"/>
                </a:solidFill>
                <a:latin typeface="Meiryo"/>
              </a:defRPr>
            </a:pPr>
            <a:r>
              <a:t>再生成 → 再テスト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Meiryo"/>
              </a:defRPr>
            </a:pPr>
            <a:r>
              <a:t>インパクト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5486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89888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eiryo"/>
              </a:defRPr>
            </a:pPr>
            <a:r>
              <a:t>Before（従来）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371600"/>
            <a:ext cx="5394960" cy="5486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1389888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F0F14"/>
                </a:solidFill>
                <a:latin typeface="Meiryo"/>
              </a:defRPr>
            </a:pPr>
            <a:r>
              <a:t>After（本フレームワーク）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10607040" cy="77724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62480"/>
            <a:ext cx="2011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eiryo"/>
              </a:defRPr>
            </a:pPr>
            <a:r>
              <a:t>カスタムマルウェア開発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062480"/>
            <a:ext cx="2834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6B6B"/>
                </a:solidFill>
                <a:latin typeface="Meiryo"/>
              </a:defRPr>
            </a:pPr>
            <a:r>
              <a:t>数日〜数週間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062480"/>
            <a:ext cx="5029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AA"/>
                </a:solidFill>
                <a:latin typeface="Meiryo"/>
              </a:defRPr>
            </a:pPr>
            <a:r>
              <a:t>コマンド一発、数十分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880360"/>
            <a:ext cx="10607040" cy="77724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931160"/>
            <a:ext cx="2011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eiryo"/>
              </a:defRPr>
            </a:pPr>
            <a:r>
              <a:t>回避手法の適用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1160"/>
            <a:ext cx="2834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6B6B"/>
                </a:solidFill>
                <a:latin typeface="Meiryo"/>
              </a:defRPr>
            </a:pPr>
            <a:r>
              <a:t>手動で毎回実装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931160"/>
            <a:ext cx="5029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AA"/>
                </a:solidFill>
                <a:latin typeface="Meiryo"/>
              </a:defRPr>
            </a:pPr>
            <a:r>
              <a:t>自動適用（6種以上）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49039"/>
            <a:ext cx="10607040" cy="77724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799839"/>
            <a:ext cx="2011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eiryo"/>
              </a:defRPr>
            </a:pPr>
            <a:r>
              <a:t>EDRテスト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799839"/>
            <a:ext cx="2834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6B6B"/>
                </a:solidFill>
                <a:latin typeface="Meiryo"/>
              </a:defRPr>
            </a:pPr>
            <a:r>
              <a:t>手動で環境構築・実行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799839"/>
            <a:ext cx="5029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AA"/>
                </a:solidFill>
                <a:latin typeface="Meiryo"/>
              </a:defRPr>
            </a:pPr>
            <a:r>
              <a:t>VM自動プロビジョニング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AA"/>
                </a:solidFill>
                <a:latin typeface="Meiryo"/>
              </a:defRPr>
            </a:pPr>
            <a:r>
              <a:t>＋自動テスト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617720"/>
            <a:ext cx="10607040" cy="77724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668520"/>
            <a:ext cx="2011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eiryo"/>
              </a:defRPr>
            </a:pPr>
            <a:r>
              <a:t>検知時の対応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668520"/>
            <a:ext cx="2834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6B6B"/>
                </a:solidFill>
                <a:latin typeface="Meiryo"/>
              </a:defRPr>
            </a:pPr>
            <a:r>
              <a:t>手動で書き直し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4668520"/>
            <a:ext cx="5029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AA"/>
                </a:solidFill>
                <a:latin typeface="Meiryo"/>
              </a:defRPr>
            </a:pPr>
            <a:r>
              <a:t>自動再試行ループ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486400"/>
            <a:ext cx="10607040" cy="77724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537200"/>
            <a:ext cx="2011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eiryo"/>
              </a:defRPr>
            </a:pPr>
            <a:r>
              <a:t>バイナリの一意性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5537200"/>
            <a:ext cx="2834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6B6B"/>
                </a:solidFill>
                <a:latin typeface="Meiryo"/>
              </a:defRPr>
            </a:pPr>
            <a:r>
              <a:t>意識的に変える必要あり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5537200"/>
            <a:ext cx="5029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AA"/>
                </a:solidFill>
                <a:latin typeface="Meiryo"/>
              </a:defRPr>
            </a:pPr>
            <a:r>
              <a:t>毎回自動で一意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0" y="5943600"/>
            <a:ext cx="8686800" cy="64008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FDC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0" y="5989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DCB6E"/>
                </a:solidFill>
                <a:latin typeface="Meiryo"/>
              </a:defRPr>
            </a:pPr>
            <a:r>
              <a:t>ペネトレーションテスト案件でのマルウェア準備時間が 数日 → 30分 に短縮！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Meiryo"/>
              </a:defRPr>
            </a:pPr>
            <a:r>
              <a:t>現状の進捗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5029200"/>
          </a:xfrm>
          <a:prstGeom prst="round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38328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D4AA"/>
                </a:solidFill>
                <a:latin typeface="Meiryo"/>
              </a:defRPr>
            </a:pPr>
            <a:r>
              <a:t>完了済み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29260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E0E0E8"/>
                </a:solidFill>
                <a:latin typeface="Meiryo"/>
              </a:defRPr>
            </a:pPr>
            <a:r>
              <a:t>  パイプライン基盤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E0E0E8"/>
                </a:solidFill>
                <a:latin typeface="Meiryo"/>
              </a:defRPr>
            </a:pPr>
            <a:r>
              <a:t>  6種の回避パス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E0E0E8"/>
                </a:solidFill>
                <a:latin typeface="Meiryo"/>
              </a:defRPr>
            </a:pPr>
            <a:r>
              <a:t>  VM自動プロビジョニング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E0E0E8"/>
                </a:solidFill>
                <a:latin typeface="Meiryo"/>
              </a:defRPr>
            </a:pPr>
            <a:r>
              <a:t>  キャナリーベース機能検証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E0E0E8"/>
                </a:solidFill>
                <a:latin typeface="Meiryo"/>
              </a:defRPr>
            </a:pPr>
            <a:r>
              <a:t>  LLM生成コード自動修復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E0E0E8"/>
                </a:solidFill>
                <a:latin typeface="Meiryo"/>
              </a:defRPr>
            </a:pPr>
            <a:r>
              <a:t>  ユニットテスト 94件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E0E0E8"/>
                </a:solidFill>
                <a:latin typeface="Meiryo"/>
              </a:defRPr>
            </a:pPr>
            <a:r>
              <a:t>  E2Eテスト 15件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5029200"/>
          </a:xfrm>
          <a:prstGeom prst="round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3383280" cy="50800"/>
          </a:xfrm>
          <a:prstGeom prst="rect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5544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DCB6E"/>
                </a:solidFill>
                <a:latin typeface="Meiryo"/>
              </a:defRPr>
            </a:pPr>
            <a:r>
              <a:t>進行中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29260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E0E0E8"/>
                </a:solidFill>
                <a:latin typeface="Meiryo"/>
              </a:defRPr>
            </a:pPr>
            <a:r>
              <a:t>  E2Eテスト安定化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E0E0E8"/>
                </a:solidFill>
                <a:latin typeface="Meiryo"/>
              </a:defRPr>
            </a:pPr>
            <a:r>
              <a:t>  VM実行検証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E0E0E8"/>
                </a:solidFill>
                <a:latin typeface="Meiryo"/>
              </a:defRPr>
            </a:pPr>
            <a:r>
              <a:t>  （ransomware等）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E0E0E8"/>
                </a:solidFill>
                <a:latin typeface="Meiryo"/>
              </a:defRPr>
            </a:pPr>
            <a:r>
              <a:t>  偽陽性ゼロの確認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383280" cy="5029200"/>
          </a:xfrm>
          <a:prstGeom prst="round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371600"/>
            <a:ext cx="3383280" cy="508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5544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C5CE7"/>
                </a:solidFill>
                <a:latin typeface="Meiryo"/>
              </a:defRPr>
            </a:pPr>
            <a:r>
              <a:t>今後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103120"/>
            <a:ext cx="29260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E0E0E8"/>
                </a:solidFill>
                <a:latin typeface="Meiryo"/>
              </a:defRPr>
            </a:pPr>
            <a:r>
              <a:t>  Go言語対応の強化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E0E0E8"/>
                </a:solidFill>
                <a:latin typeface="Meiryo"/>
              </a:defRPr>
            </a:pPr>
            <a:r>
              <a:t>  追加マルウェアタイプ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E0E0E8"/>
                </a:solidFill>
                <a:latin typeface="Meiryo"/>
              </a:defRPr>
            </a:pPr>
            <a:r>
              <a:t>  （dropper, backdoor）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E0E0E8"/>
                </a:solidFill>
                <a:latin typeface="Meiryo"/>
              </a:defRPr>
            </a:pPr>
            <a:r>
              <a:t>  マルチEDR同時テスト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E0E0E8"/>
                </a:solidFill>
                <a:latin typeface="Meiryo"/>
              </a:defRPr>
            </a:pPr>
            <a:r>
              <a:t>  Webポータル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E0E0E8"/>
                </a:solidFill>
                <a:latin typeface="Meiryo"/>
              </a:defRPr>
            </a:pPr>
            <a:r>
              <a:t>  （生成・監視UI）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Meiryo"/>
              </a:defRPr>
            </a:pPr>
            <a:r>
              <a:t>つまづきポイントと対策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868680"/>
          </a:xfrm>
          <a:prstGeom prst="round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0800" cy="8686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7320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8"/>
                </a:solidFill>
                <a:latin typeface="Meiryo"/>
              </a:defRPr>
            </a:pPr>
            <a:r>
              <a:t>LLMのコード生成品質が非決定的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868680"/>
          </a:xfrm>
          <a:prstGeom prst="round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0800" cy="8686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22400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E0E0E8"/>
                </a:solidFill>
                <a:latin typeface="Meiryo"/>
              </a:defRPr>
            </a:pPr>
            <a:r>
              <a:t>多段修復パイプライン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E0E0E8"/>
                </a:solidFill>
                <a:latin typeface="Meiryo"/>
              </a:defRPr>
            </a:pPr>
            <a:r>
              <a:t>（6回リトライ + コンパイル修正ループ）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77440"/>
            <a:ext cx="5029200" cy="868680"/>
          </a:xfrm>
          <a:prstGeom prst="round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377440"/>
            <a:ext cx="50800" cy="8686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47904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8"/>
                </a:solidFill>
                <a:latin typeface="Meiryo"/>
              </a:defRPr>
            </a:pPr>
            <a:r>
              <a:t>LLMがヘッダー名を幻覚する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77440"/>
            <a:ext cx="5212080" cy="868680"/>
          </a:xfrm>
          <a:prstGeom prst="round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377440"/>
            <a:ext cx="50800" cy="8686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428240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E0E0E8"/>
                </a:solidFill>
                <a:latin typeface="Meiryo"/>
              </a:defRPr>
            </a:pPr>
            <a:r>
              <a:t>ファジーマッチ補正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E0E0E8"/>
                </a:solidFill>
                <a:latin typeface="Meiryo"/>
              </a:defRPr>
            </a:pPr>
            <a:r>
              <a:t>（tllib32.h → tlhelp32.h 等）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83280"/>
            <a:ext cx="5029200" cy="868680"/>
          </a:xfrm>
          <a:prstGeom prst="round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383280"/>
            <a:ext cx="50800" cy="8686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4848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8"/>
                </a:solidFill>
                <a:latin typeface="Meiryo"/>
              </a:defRPr>
            </a:pPr>
            <a:r>
              <a:t>プロンプト文脈がコードに混入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383280"/>
            <a:ext cx="5212080" cy="868680"/>
          </a:xfrm>
          <a:prstGeom prst="round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383280"/>
            <a:ext cx="50800" cy="8686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434080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E0E0E8"/>
                </a:solidFill>
                <a:latin typeface="Meiryo"/>
              </a:defRPr>
            </a:pPr>
            <a:r>
              <a:t>prose leak除去フィルター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89120"/>
            <a:ext cx="5029200" cy="868680"/>
          </a:xfrm>
          <a:prstGeom prst="round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389120"/>
            <a:ext cx="50800" cy="8686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4907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8"/>
                </a:solidFill>
                <a:latin typeface="Meiryo"/>
              </a:defRPr>
            </a:pPr>
            <a:r>
              <a:t>機能検証の偽陽性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389120"/>
            <a:ext cx="5212080" cy="868680"/>
          </a:xfrm>
          <a:prstGeom prst="round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389120"/>
            <a:ext cx="50800" cy="8686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439920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E0E0E8"/>
                </a:solidFill>
                <a:latin typeface="Meiryo"/>
              </a:defRPr>
            </a:pPr>
            <a:r>
              <a:t>LLM判定 → キャナリー判定に権限移行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394960"/>
            <a:ext cx="5029200" cy="868680"/>
          </a:xfrm>
          <a:prstGeom prst="round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5394960"/>
            <a:ext cx="50800" cy="8686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49656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8"/>
                </a:solidFill>
                <a:latin typeface="Meiryo"/>
              </a:defRPr>
            </a:pPr>
            <a:r>
              <a:t>ローカルLLMの同時リクエスト不可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5394960"/>
            <a:ext cx="5212080" cy="868680"/>
          </a:xfrm>
          <a:prstGeom prst="round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5394960"/>
            <a:ext cx="50800" cy="8686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5445760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E0E0E8"/>
                </a:solidFill>
                <a:latin typeface="Meiryo"/>
              </a:defRPr>
            </a:pPr>
            <a:r>
              <a:t>パイプライン直列実行制御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10515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6B6B"/>
                </a:solidFill>
                <a:latin typeface="Meiryo"/>
              </a:defRPr>
            </a:pPr>
            <a:r>
              <a:t>課題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10515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AA"/>
                </a:solidFill>
                <a:latin typeface="Meiryo"/>
              </a:defRPr>
            </a:pPr>
            <a:r>
              <a:t>対策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Meiryo"/>
              </a:defRPr>
            </a:pPr>
            <a:r>
              <a:t>デモ：実行例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2560320"/>
          </a:xfrm>
          <a:prstGeom prst="round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AA"/>
                </a:solidFill>
                <a:latin typeface="Meiryo"/>
              </a:defRPr>
            </a:pPr>
            <a:r>
              <a:t>spec.yaml（入力はこれだけ）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E0E0E8"/>
                </a:solidFill>
                <a:latin typeface="Consolas"/>
              </a:defRPr>
            </a:pPr>
            <a:r>
              <a:t>malware_type: ransomware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E0E0E8"/>
                </a:solidFill>
                <a:latin typeface="Consolas"/>
              </a:defRPr>
            </a:pPr>
            <a:r>
              <a:t>language: c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E0E0E8"/>
                </a:solidFill>
                <a:latin typeface="Consolas"/>
              </a:defRPr>
            </a:pPr>
            <a:r>
              <a:t>target: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E0E0E8"/>
                </a:solidFill>
                <a:latin typeface="Consolas"/>
              </a:defRPr>
            </a:pPr>
            <a:r>
              <a:t>  os: windows_11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E0E0E8"/>
                </a:solidFill>
                <a:latin typeface="Consolas"/>
              </a:defRPr>
            </a:pPr>
            <a:r>
              <a:t>  edrs: [windows_defender]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914400"/>
          </a:xfrm>
          <a:prstGeom prst="round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AA"/>
                </a:solidFill>
                <a:latin typeface="Meiryo"/>
              </a:defRPr>
            </a:pPr>
            <a:r>
              <a:t>実行コマンド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8"/>
                </a:solidFill>
                <a:latin typeface="Consolas"/>
              </a:defRPr>
            </a:pPr>
            <a:r>
              <a:t>$ python3 -m malware_gen_framework run \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8"/>
                </a:solidFill>
                <a:latin typeface="Consolas"/>
              </a:defRPr>
            </a:pPr>
            <a:r>
              <a:t>    --spec spec.yaml --output results/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468880"/>
            <a:ext cx="5212080" cy="1463040"/>
          </a:xfrm>
          <a:prstGeom prst="round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5146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AA"/>
                </a:solidFill>
                <a:latin typeface="Meiryo"/>
              </a:defRPr>
            </a:pPr>
            <a:r>
              <a:t>実行結果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880360"/>
            <a:ext cx="48463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300" b="0">
                <a:solidFill>
                  <a:srgbClr val="AAAABB"/>
                </a:solidFill>
                <a:latin typeface="Consolas"/>
              </a:defRPr>
            </a:pPr>
            <a:r>
              <a:t>[Pipeline] Plan: 6 components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300" b="0">
                <a:solidFill>
                  <a:srgbClr val="AAAABB"/>
                </a:solidFill>
                <a:latin typeface="Consolas"/>
              </a:defRPr>
            </a:pPr>
            <a:r>
              <a:t>[Pipeline] Code: 12,847 chars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300" b="0">
                <a:solidFill>
                  <a:srgbClr val="AAAABB"/>
                </a:solidFill>
                <a:latin typeface="Consolas"/>
              </a:defRPr>
            </a:pPr>
            <a:r>
              <a:t>[Pipeline] Compiled OK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300" b="0">
                <a:solidFill>
                  <a:srgbClr val="00D4AA"/>
                </a:solidFill>
                <a:latin typeface="Consolas"/>
              </a:defRPr>
            </a:pPr>
            <a:r>
              <a:t>[Pipeline] Validation: PASS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300" b="0">
                <a:solidFill>
                  <a:srgbClr val="00D4AA"/>
                </a:solidFill>
                <a:latin typeface="Consolas"/>
              </a:defRPr>
            </a:pPr>
            <a:r>
              <a:t>[Pipeline] EDR: CLEAN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300" b="0">
                <a:solidFill>
                  <a:srgbClr val="FDCB6E"/>
                </a:solidFill>
                <a:latin typeface="Consolas"/>
              </a:defRPr>
            </a:pPr>
            <a:r>
              <a:t>[Pipeline] SUCCESS → malware.exe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10698480" cy="2103120"/>
          </a:xfrm>
          <a:prstGeom prst="round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434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AA"/>
                </a:solidFill>
                <a:latin typeface="Meiryo"/>
              </a:defRPr>
            </a:pPr>
            <a:r>
              <a:t>パイプライン処理フロー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846320"/>
            <a:ext cx="1188720" cy="1097280"/>
          </a:xfrm>
          <a:prstGeom prst="roundRect">
            <a:avLst/>
          </a:prstGeom>
          <a:solidFill>
            <a:srgbClr val="0F0F14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937760"/>
            <a:ext cx="1097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C5CE7"/>
                </a:solidFill>
                <a:latin typeface="Meiryo"/>
              </a:defRPr>
            </a:pPr>
            <a:r>
              <a:t>Spec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C5CE7"/>
                </a:solidFill>
                <a:latin typeface="Meiryo"/>
              </a:defRPr>
            </a:pPr>
            <a:r>
              <a:t>解析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1206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AAAABB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23160" y="4846320"/>
            <a:ext cx="1188720" cy="1097280"/>
          </a:xfrm>
          <a:prstGeom prst="roundRect">
            <a:avLst/>
          </a:prstGeom>
          <a:solidFill>
            <a:srgbClr val="0F0F14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4937760"/>
            <a:ext cx="1097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C5CE7"/>
                </a:solidFill>
                <a:latin typeface="Meiryo"/>
              </a:defRPr>
            </a:pPr>
            <a:r>
              <a:t>計画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C5CE7"/>
                </a:solidFill>
                <a:latin typeface="Meiryo"/>
              </a:defRPr>
            </a:pPr>
            <a:r>
              <a:t>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51206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AAAABB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4846320"/>
            <a:ext cx="1188720" cy="1097280"/>
          </a:xfrm>
          <a:prstGeom prst="roundRect">
            <a:avLst/>
          </a:prstGeom>
          <a:solidFill>
            <a:srgbClr val="0F0F14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7640" y="4937760"/>
            <a:ext cx="1097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D4AA"/>
                </a:solidFill>
                <a:latin typeface="Meiryo"/>
              </a:defRPr>
            </a:pPr>
            <a:r>
              <a:t>コード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D4AA"/>
                </a:solidFill>
                <a:latin typeface="Meiryo"/>
              </a:defRPr>
            </a:pPr>
            <a:r>
              <a:t>生成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51206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AAAABB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40679" y="4846320"/>
            <a:ext cx="1188720" cy="1097280"/>
          </a:xfrm>
          <a:prstGeom prst="roundRect">
            <a:avLst/>
          </a:prstGeom>
          <a:solidFill>
            <a:srgbClr val="0F0F14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399" y="4937760"/>
            <a:ext cx="1097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D4AA"/>
                </a:solidFill>
                <a:latin typeface="Meiryo"/>
              </a:defRPr>
            </a:pPr>
            <a:r>
              <a:t>コンパイル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D4AA"/>
                </a:solidFill>
                <a:latin typeface="Meiryo"/>
              </a:defRPr>
            </a:pPr>
            <a:r>
              <a:t>修正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79" y="51206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AAAABB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0" y="4846320"/>
            <a:ext cx="1188720" cy="1097280"/>
          </a:xfrm>
          <a:prstGeom prst="roundRect">
            <a:avLst/>
          </a:prstGeom>
          <a:solidFill>
            <a:srgbClr val="0F0F14"/>
          </a:solidFill>
          <a:ln w="12700">
            <a:solidFill>
              <a:srgbClr val="FDC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160" y="4937760"/>
            <a:ext cx="1097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DCB6E"/>
                </a:solidFill>
                <a:latin typeface="Meiryo"/>
              </a:defRPr>
            </a:pPr>
            <a:r>
              <a:t>回避パス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51206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AAAABB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58200" y="4846320"/>
            <a:ext cx="1188720" cy="1097280"/>
          </a:xfrm>
          <a:prstGeom prst="roundRect">
            <a:avLst/>
          </a:prstGeom>
          <a:solidFill>
            <a:srgbClr val="0F0F14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4937760"/>
            <a:ext cx="1097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6B6B"/>
                </a:solidFill>
                <a:latin typeface="Meiryo"/>
              </a:defRPr>
            </a:pPr>
            <a:r>
              <a:t>VM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6B6B"/>
                </a:solidFill>
                <a:latin typeface="Meiryo"/>
              </a:defRPr>
            </a:pPr>
            <a:r>
              <a:t>テスト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51206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AAAABB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66959" y="4846320"/>
            <a:ext cx="1188720" cy="1097280"/>
          </a:xfrm>
          <a:prstGeom prst="roundRect">
            <a:avLst/>
          </a:prstGeom>
          <a:solidFill>
            <a:srgbClr val="0F0F14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12679" y="4937760"/>
            <a:ext cx="1097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D4AA"/>
                </a:solidFill>
                <a:latin typeface="Meiryo"/>
              </a:defRPr>
            </a:pPr>
            <a:r>
              <a:t>SUCCESS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